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 SemiBold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6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SemiBold-regular.fntdata"/><Relationship Id="rId16" Type="http://schemas.openxmlformats.org/officeDocument/2006/relationships/font" Target="fonts/UrbanistMedium-boldItalic.fntdata"/><Relationship Id="rId19" Type="http://schemas.openxmlformats.org/officeDocument/2006/relationships/font" Target="fonts/UrbanistSemiBold-italic.fntdata"/><Relationship Id="rId18" Type="http://schemas.openxmlformats.org/officeDocument/2006/relationships/font" Target="fonts/Urbanis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a0288d81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ca0288d81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a0288d813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a0288d813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ca0288d813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ca0288d813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a0288d813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ca0288d813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a0288d813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a0288d813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ca0288d813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ca0288d813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3" name="Google Shape;483;p53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84" name="Google Shape;484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5" name="Google Shape;485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6" name="Google Shape;486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8" name="Google Shape;488;p53"/>
          <p:cNvSpPr txBox="1"/>
          <p:nvPr>
            <p:ph type="title"/>
          </p:nvPr>
        </p:nvSpPr>
        <p:spPr>
          <a:xfrm>
            <a:off x="228600" y="228600"/>
            <a:ext cx="7726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User Adoption and Growth 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9" name="Google Shape;489;p5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GoGoSync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0" name="Google Shape;490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GoGoSync</a:t>
            </a:r>
            <a:endParaRPr/>
          </a:p>
        </p:txBody>
      </p:sp>
      <p:sp>
        <p:nvSpPr>
          <p:cNvPr id="491" name="Google Shape;491;p5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</a:t>
            </a:r>
            <a:endParaRPr/>
          </a:p>
        </p:txBody>
      </p:sp>
      <p:sp>
        <p:nvSpPr>
          <p:cNvPr id="492" name="Google Shape;492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93" name="Google Shape;493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Kalina Dimitrova</a:t>
            </a:r>
            <a:endParaRPr/>
          </a:p>
        </p:txBody>
      </p:sp>
      <p:sp>
        <p:nvSpPr>
          <p:cNvPr id="494" name="Google Shape;494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 /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"/>
          <p:cNvSpPr txBox="1"/>
          <p:nvPr>
            <p:ph type="title"/>
          </p:nvPr>
        </p:nvSpPr>
        <p:spPr>
          <a:xfrm>
            <a:off x="311700" y="228600"/>
            <a:ext cx="86037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Adoption is growing steadily, with predictable seasonality.</a:t>
            </a:r>
            <a:endParaRPr sz="2500"/>
          </a:p>
        </p:txBody>
      </p:sp>
      <p:pic>
        <p:nvPicPr>
          <p:cNvPr id="501" name="Google Shape;501;p54" title="slide1_da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09875"/>
            <a:ext cx="8335724" cy="29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4"/>
          <p:cNvSpPr txBox="1"/>
          <p:nvPr/>
        </p:nvSpPr>
        <p:spPr>
          <a:xfrm>
            <a:off x="690450" y="4112975"/>
            <a:ext cx="78462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daily active users increased about 3x since early 2023.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Growth momentum remains strong.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Continue scaling.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311700" y="22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is concentrated in enterprise.</a:t>
            </a:r>
            <a:endParaRPr/>
          </a:p>
        </p:txBody>
      </p:sp>
      <p:sp>
        <p:nvSpPr>
          <p:cNvPr id="508" name="Google Shape;508;p55"/>
          <p:cNvSpPr txBox="1"/>
          <p:nvPr/>
        </p:nvSpPr>
        <p:spPr>
          <a:xfrm>
            <a:off x="525000" y="4212425"/>
            <a:ext cx="800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Usage intensity is similar across segments - revenue differences reflect pricing and retention dynamics.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Enterprise customers generate 5-13x higher long-term value per account.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Prioritize enterprise.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9" name="Google Shape;509;p55" title="slide1_mr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063" y="801312"/>
            <a:ext cx="6323973" cy="334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"/>
          <p:cNvSpPr txBox="1"/>
          <p:nvPr>
            <p:ph type="title"/>
          </p:nvPr>
        </p:nvSpPr>
        <p:spPr>
          <a:xfrm>
            <a:off x="311700" y="228600"/>
            <a:ext cx="85206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 out onboarding approach B. </a:t>
            </a:r>
            <a:endParaRPr/>
          </a:p>
        </p:txBody>
      </p:sp>
      <p:sp>
        <p:nvSpPr>
          <p:cNvPr id="515" name="Google Shape;515;p56"/>
          <p:cNvSpPr txBox="1"/>
          <p:nvPr/>
        </p:nvSpPr>
        <p:spPr>
          <a:xfrm>
            <a:off x="587100" y="4171025"/>
            <a:ext cx="78759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 increases first-month engagement by ~15%.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Lifts typical users, not just extreme adopters.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Rollout approach B across new signups.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16" name="Google Shape;516;p56" title="slide3_onboarding_m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888" y="938025"/>
            <a:ext cx="5730324" cy="31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7"/>
          <p:cNvSpPr txBox="1"/>
          <p:nvPr>
            <p:ph type="title"/>
          </p:nvPr>
        </p:nvSpPr>
        <p:spPr>
          <a:xfrm>
            <a:off x="311700" y="129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Capacity Planning: Prepare for ~1950 DAU in Q1.</a:t>
            </a:r>
            <a:endParaRPr/>
          </a:p>
        </p:txBody>
      </p:sp>
      <p:sp>
        <p:nvSpPr>
          <p:cNvPr id="522" name="Google Shape;522;p57"/>
          <p:cNvSpPr txBox="1"/>
          <p:nvPr>
            <p:ph idx="1" type="body"/>
          </p:nvPr>
        </p:nvSpPr>
        <p:spPr>
          <a:xfrm>
            <a:off x="311700" y="4266675"/>
            <a:ext cx="8520600" cy="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Q1 average ~1,620 Daily Active Users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Upper expected bound ~1,950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Recommend buffer toward ~2,100 (5-10%)</a:t>
            </a:r>
            <a:endParaRPr/>
          </a:p>
        </p:txBody>
      </p:sp>
      <p:pic>
        <p:nvPicPr>
          <p:cNvPr id="523" name="Google Shape;523;p57" title="slide4_foreca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000" y="784100"/>
            <a:ext cx="5825900" cy="3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Risks &amp; Watchpoints</a:t>
            </a:r>
            <a:endParaRPr/>
          </a:p>
        </p:txBody>
      </p:sp>
      <p:sp>
        <p:nvSpPr>
          <p:cNvPr id="529" name="Google Shape;52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Revenue trajectory is sensitive to Enterprise segment mix.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Onboarding B delivers moderate gains - not transformational impact.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Forecast assumes stable growth patterns and seasonality.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Recalibrate projections if product launches or pricing shifts occur.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